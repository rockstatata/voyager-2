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82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endParaRPr/>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endParaRPr/>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endParaRPr/>
          </a:p>
          <a:p>
            <a:r>
              <a:t>Student: Sarwad Hasan Siddiqui, Roll 2107006. Course: CSE 4102, Computer Graphics and Image Processing Laboratory. Course teachers: Md Tajmilur Rahman and Md Mubtashim Abrar Nihal, Lecturers, Department of CSE, KUET. Submission: October 2026.</a:t>
            </a:r>
          </a:p>
          <a:p>
            <a:endParaRPr/>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p>
            <a:r>
              <a:t>The stack is C++20, OpenGL 3.3, GLFW, GLAD and GLM. Window/input, scene ownership, camera control and rendering are separated so that changing a view does not rewrite the simulation. Explain the pictures as user activities, not as unrelated scenes.</a:t>
            </a:r>
          </a:p>
          <a:p/>
          <a:p>
            <a:r>
              <a:t>Sources: `Application::handleKeys`, `CameraController`, `MissionController`; `docs/objects/controls.md`. Report Chapter IV.</a:t>
            </a:r>
          </a:p>
          <a:p/>
          <a:p>
            <a:r>
              <a:t>PROPOSED SCOPE AND FINAL IMPLEMENTATION</a:t>
            </a:r>
          </a:p>
          <a:p>
            <a:r>
              <a:t>The submitted two-page proposal is titled Voyager 2: Journey Beyond the Solar System. It planned an Earth-to-interstellar journey through Jupiter, Saturn, Uranus and Neptune, a primitive spacecraft, a visible path, starfield and heliopause. It also planned translation, rotation, scaling, composite and hierarchical transforms, planet spin, Sun lighting with ambient/diffuse/specular terms, Flat/Gouraud/Phong shading, and camera and keyboard interaction.</a:t>
            </a:r>
          </a:p>
          <a:p/>
          <a:p>
            <a:r>
              <a:t>Point to the mission, inspection and comparison screenshots above the cards while describing the implemented feature groups. Launch bookmark 1 provides a mission restart; P pauses, =/- changes speed, C changes camera rig, T toggles the path and F3 selects the named shading technique. Explain that user input changes application state, update computes motion, and render consumes the current transforms and materials.</a:t>
            </a:r>
          </a:p>
          <a:p/>
          <a:p>
            <a:r>
              <a:t>Additional features include 26 textured bodies, four ring systems, 76 spacecraft assemblies and 18 inspection targets, 8,500 instanced rocks, a dynamic comet and 7,380 stars. The final project adds manual six-degree flight, component inspection, a moving camera spotlight and directional fill, Blinn-Phong and Toon shading, derived surface maps, shadows and hybrid BVH ray tracing. These extend the implemented feature groups from the proposal.</a:t>
            </a:r>
          </a:p>
          <a:p/>
          <a:p>
            <a:r>
              <a:t>Give the overview first; the following ten technical slides derive geometry, transforms, motion, lighting, shading, shadows, tracing and textures. The report methodology contains the detailed implementation and equations, and its typography follows the supplied CSE-4000 report template. Play the final project video at the existing cue, narrating each visible feature as it changes.</a:t>
            </a:r>
          </a:p>
          <a:p/>
          <a:p>
            <a:r>
              <a:t>IMPORTANT FEATURES AND VIDEO NARRATION</a:t>
            </a:r>
          </a:p>
          <a:p>
            <a:r>
              <a:t>Use the three screenshots above the captions as evidence. Begin with the dated mission: NASA/JPL offline positions and velocities place planets and Voyager on one shared Julian Date; interpolation gives smooth flybys. In the video, point to the running date and the four giant-planet encounters. This connects historical mission data to animation and transforms (slides 2 and 7).</a:t>
            </a:r>
          </a:p>
          <a:p/>
          <a:p>
            <a:r>
              <a:t>Next describe the spacecraft. The mesh is authored from reusable primitives rather than an imported spacecraft mesh: boxes, cylinders, rods and a sampled paraboloid. There are 76 assemblies and 18 inspectable hardware targets. Point to the dish curvature, truss structure, component labels and NASA texture atlas. The model and inspection system connect geometry, normals, hierarchical transforms and interaction (slides 2, 4, 6 and 12).</a:t>
            </a:r>
          </a:p>
          <a:p/>
          <a:p>
            <a:r>
              <a:t>Show user control: four camera modes, mouse selection, zoom and real-time manual six-degree flight. Floating origin subtracts camera position in double precision so hardware close-ups remain stable across large world coordinates. In the video show a selected body, then Inspect, then thrust/yaw/braking; explain that input changes state and the update computes the new pose (slides 6–7).</a:t>
            </a:r>
          </a:p>
          <a:p/>
          <a:p>
            <a:r>
              <a:t>Show the rendering comparison in a frozen view. Toggle the moving camera spotlight and directional fill, then compare Gouraud against Phong and the other three shading modes. Identify the visible response and where illumination is computed; explain ambient, Lambert diffuse and the specular exponent rather than only naming techniques (slides 8–9).</a:t>
            </a:r>
          </a:p>
          <a:p/>
          <a:p>
            <a:r>
              <a:t>The bonus rendering feature is hybrid Whitted ray tracing. F9 traces analytic planet/ring hits and the authored spacecraft through a triangle BVH. F10 enables one optional mirror reflection. Show a raster/traced comparison and describe primary, shadow and reflected rays, then show body/ring shadows and spacecraft self-shadow (slides 10–11).</a:t>
            </a:r>
          </a:p>
          <a:p/>
          <a:p>
            <a:r>
              <a:t>Texture detail is another important feature: the NASA atlas supplies spacecraft finishes; colour-derived relief and an ocean mask affect normal/specular response. F8 compares maps off/on without changing geometry. Explain that normal maps change shading normals, not the silhouette (slide 12).</a:t>
            </a:r>
          </a:p>
          <a:p/>
          <a:p>
            <a:r>
              <a:t>Finally explain the environment and efficiency: four ring systems, 8,500 deterministic rock instances in three fields, 7,380 star points and a dynamic comet. Instancing, shared sphere meshes, LOD and culling reduce drawing work. Rock fields are static; the comet and mission/body animation supply motion (slides 3 and 5).</a:t>
            </a:r>
          </a:p>
          <a:p/>
          <a:p>
            <a:r>
              <a:t>Narrate the video using feature → calculation → visible effect. Use the two-minute plan in docs/guide/13-teacher-showcase.md. The project-specific strengths are the integration, authored geometry and inspectable comparisons; the graphics algorithms themselves are established techniques.</a:t>
            </a:r>
          </a:p>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endParaRPr/>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endParaRPr/>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endParaRPr/>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endParaRPr/>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endParaRPr/>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endParaRPr/>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endParaRPr/>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endParaRPr/>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endParaRPr/>
          </a:p>
          <a:p>
            <a:r>
              <a:t>All eighteen inspection targets and their construction:</a:t>
            </a:r>
          </a:p>
          <a:p>
            <a:endParaRPr/>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endParaRPr/>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endParaRPr/>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endParaRPr/>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endParaRPr/>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endParaRPr/>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endParaRPr/>
          </a:p>
          <a:p>
            <a:r>
              <a:t>Worked example: local (1,0,0), scale two, rotate +90° about Y, then translate (10,0,0) gives (10,0,−2). A parent translation (0,3,0) gives (10,3,−2). The normal transforms by normalize((M3×3 inverse) transpose × n), preserving perpendicularity after nonuniform scaling.</a:t>
            </a:r>
          </a:p>
          <a:p>
            <a:endParaRPr/>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endParaRPr/>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endParaRPr/>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endParaRPr/>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endParaRPr/>
          </a:p>
          <a:p>
            <a:r>
              <a:t>Sources: `Transform`, `SceneObject`, `CelestialBody`, `ScaleManager`, `Camera`, `CameraController`, `Renderer`. Report §3.3.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endParaRPr/>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endParaRPr/>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endParaRPr/>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endParaRPr/>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endParaRPr/>
          </a:p>
          <a:p>
            <a:r>
              <a:t>Sources: `Trajectory`, `MissionEphemeris`, `SimulationClock`, `CelestialBody`, `Voyager2`, `Comet`. Report §3.4.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p>
            <a:r>
              <a:t>Lambert diffuse is max(n·l,0). Attenuation is 1/max(kc+kl d+kq d²,10^-4). The Sun defaults to coefficients (1,0,0), keeping outer planets visible. F7 selects (.3,0,.7/400), giving one at distance twenty and about .03 at Neptune. This is a deliberately compressed-distance falloff.</a:t>
            </a:r>
          </a:p>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p>
            <a:r>
              <a:t>Sources: `LightingController.cpp`, `LightingUniforms.cpp`, `shaders/lighting.glsl`. Report §3.5.</a:t>
            </a:r>
          </a:p>
          <a:p/>
          <a:p>
            <a:r>
              <a:t>The lower-left panel shows ambient, diffuse and Phong-specular equations together with the implemented final light-composition equation. Slide 9 shows the Phong and Blinn-Phong specular equations side by side. In the report, see Chapter III, Section 3.5 (PDF pages 12–13).</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endParaRPr/>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endParaRPr/>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endParaRPr/>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endParaRPr/>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endParaRPr/>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endParaRPr/>
          </a:p>
          <a:p>
            <a:r>
              <a:t>Self-hit prevention skips the source sphere, offsets ring origins by 10^-4 times outer radius, and uses biased triangle-ray origins. An uncorrected origin would hit its own surface and create dark acne.</a:t>
            </a:r>
          </a:p>
          <a:p>
            <a:endParaRPr/>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endParaRPr/>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endParaRPr/>
          </a:p>
          <a:p>
            <a:r>
              <a:t>Sources: `Renderer::renderShadowMap`, `ShadowMap`, `scene.frag`, `raytrace.glsl`. Report §3.8 and learning guide Chapters 7 and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endParaRPr/>
          </a:p>
          <a:p>
            <a:r>
              <a:t>Triangle intersection solves o+td=A+u(B−A)+v(C−A). Möller–Trumbore uses E1=B−A, E2=C−A, P=d×E2, det=E1·P, T=o−A, u=(T·P)/det, Q=T×E1, v=(d·Q)/det and t=(E2·Q)/det. Accept positive t, u≥0, v≥0 and u+v≤1. Interpolate UV and normal with weights (1−u−v,u,v), then normalize the normal.</a:t>
            </a:r>
          </a:p>
          <a:p>
            <a:endParaRPr/>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endParaRPr/>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endParaRPr/>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endParaRPr/>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endParaRPr/>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endParaRPr/>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endParaRPr/>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endParaRPr/>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endParaRPr/>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endParaRPr/>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endParaRPr/>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9.png"/><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lIns="0" tIns="0" rIns="0" b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lIns="0" tIns="0" rIns="0" b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 y="3276600"/>
            <a:ext cx="5168900" cy="1117600"/>
          </a:xfrm>
          <a:prstGeom prst="rect">
            <a:avLst/>
          </a:prstGeom>
          <a:noFill/>
        </p:spPr>
        <p:txBody>
          <a:bodyPr wrap="none" lIns="0" tIns="0" rIns="0" b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3"/>
          <a:stretch>
            <a:fillRect/>
          </a:stretch>
        </p:blipFill>
        <p:spPr>
          <a:xfrm>
            <a:off x="6019800" y="1035050"/>
            <a:ext cx="5720079" cy="3575050"/>
          </a:xfrm>
          <a:prstGeom prst="rect">
            <a:avLst/>
          </a:prstGeom>
        </p:spPr>
      </p:pic>
      <p:pic>
        <p:nvPicPr>
          <p:cNvPr id="13" name="Picture 12" descr="image.png"/>
          <p:cNvPicPr>
            <a:picLocks noChangeAspect="1"/>
          </p:cNvPicPr>
          <p:nvPr/>
        </p:nvPicPr>
        <p:blipFill>
          <a:blip r:embed="rId4"/>
          <a:stretch>
            <a:fillRect/>
          </a:stretch>
        </p:blipFill>
        <p:spPr>
          <a:xfrm>
            <a:off x="532638" y="4660899"/>
            <a:ext cx="2671572" cy="1669733"/>
          </a:xfrm>
          <a:prstGeom prst="rect">
            <a:avLst/>
          </a:prstGeom>
        </p:spPr>
      </p:pic>
      <p:pic>
        <p:nvPicPr>
          <p:cNvPr id="14" name="Picture 13" descr="image.png"/>
          <p:cNvPicPr>
            <a:picLocks noChangeAspect="1"/>
          </p:cNvPicPr>
          <p:nvPr/>
        </p:nvPicPr>
        <p:blipFill>
          <a:blip r:embed="rId5"/>
          <a:stretch>
            <a:fillRect/>
          </a:stretch>
        </p:blipFill>
        <p:spPr>
          <a:xfrm>
            <a:off x="3259328" y="4654868"/>
            <a:ext cx="2671572" cy="1669733"/>
          </a:xfrm>
          <a:prstGeom prst="rect">
            <a:avLst/>
          </a:prstGeom>
        </p:spPr>
      </p:pic>
      <p:sp>
        <p:nvSpPr>
          <p:cNvPr id="15" name="TextBox 14"/>
          <p:cNvSpPr txBox="1"/>
          <p:nvPr/>
        </p:nvSpPr>
        <p:spPr>
          <a:xfrm>
            <a:off x="6261102" y="4924408"/>
            <a:ext cx="4143756" cy="520912"/>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Sarwad Hasan Siddiqui | Roll:</a:t>
            </a:r>
            <a:r>
              <a:rPr lang="en-US" dirty="0"/>
              <a:t> </a:t>
            </a:r>
            <a:r>
              <a:rPr dirty="0"/>
              <a:t>2107006</a:t>
            </a:r>
          </a:p>
          <a:p>
            <a:pPr>
              <a:lnSpc>
                <a:spcPts val="2125"/>
              </a:lnSpc>
              <a:spcAft>
                <a:spcPts val="0"/>
              </a:spcAft>
              <a:defRPr sz="1700" b="1">
                <a:solidFill>
                  <a:srgbClr val="14283B"/>
                </a:solidFill>
                <a:latin typeface="Arial"/>
              </a:defRPr>
            </a:pPr>
            <a:r>
              <a:rPr dirty="0"/>
              <a:t>CSE 4102 | KUET | October 2026</a:t>
            </a:r>
          </a:p>
        </p:txBody>
      </p:sp>
      <p:sp>
        <p:nvSpPr>
          <p:cNvPr id="17" name="TextBox 16">
            <a:extLst>
              <a:ext uri="{FF2B5EF4-FFF2-40B4-BE49-F238E27FC236}">
                <a16:creationId xmlns:a16="http://schemas.microsoft.com/office/drawing/2014/main" id="{5E675219-4918-4C71-4627-A4C950DC976B}"/>
              </a:ext>
            </a:extLst>
          </p:cNvPr>
          <p:cNvSpPr txBox="1"/>
          <p:nvPr/>
        </p:nvSpPr>
        <p:spPr>
          <a:xfrm>
            <a:off x="6261102" y="5537268"/>
            <a:ext cx="4562916" cy="49552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rPr dirty="0"/>
              <a:t>Course teachers: </a:t>
            </a:r>
            <a:r>
              <a:rPr b="1" dirty="0"/>
              <a:t>Md </a:t>
            </a:r>
            <a:r>
              <a:rPr b="1" dirty="0" err="1"/>
              <a:t>Tajmilur</a:t>
            </a:r>
            <a:r>
              <a:rPr b="1" dirty="0"/>
              <a:t> Rahman</a:t>
            </a:r>
            <a:r>
              <a:rPr lang="en-US" b="1" dirty="0"/>
              <a:t> </a:t>
            </a:r>
            <a:r>
              <a:rPr lang="en-US" dirty="0"/>
              <a:t>- Lecturer</a:t>
            </a:r>
            <a:endParaRPr dirty="0"/>
          </a:p>
          <a:p>
            <a:pPr>
              <a:lnSpc>
                <a:spcPts val="2000"/>
              </a:lnSpc>
              <a:spcAft>
                <a:spcPts val="0"/>
              </a:spcAft>
              <a:defRPr sz="1600" b="0">
                <a:solidFill>
                  <a:srgbClr val="14283B"/>
                </a:solidFill>
                <a:latin typeface="Arial"/>
              </a:defRPr>
            </a:pPr>
            <a:r>
              <a:rPr dirty="0"/>
              <a:t>and </a:t>
            </a:r>
            <a:r>
              <a:rPr b="1" dirty="0"/>
              <a:t>Md </a:t>
            </a:r>
            <a:r>
              <a:rPr b="1" dirty="0" err="1"/>
              <a:t>Mubtashim</a:t>
            </a:r>
            <a:r>
              <a:rPr b="1" dirty="0"/>
              <a:t> Abrar Nihal </a:t>
            </a:r>
            <a:r>
              <a:rPr dirty="0"/>
              <a:t>— Lecturer</a:t>
            </a:r>
          </a:p>
        </p:txBody>
      </p:sp>
      <p:sp>
        <p:nvSpPr>
          <p:cNvPr id="19" name="TextBox 18">
            <a:extLst>
              <a:ext uri="{FF2B5EF4-FFF2-40B4-BE49-F238E27FC236}">
                <a16:creationId xmlns:a16="http://schemas.microsoft.com/office/drawing/2014/main" id="{D42B34E5-8E27-FE20-1E67-3213DD814818}"/>
              </a:ext>
            </a:extLst>
          </p:cNvPr>
          <p:cNvSpPr txBox="1"/>
          <p:nvPr/>
        </p:nvSpPr>
        <p:spPr>
          <a:xfrm>
            <a:off x="6567932" y="719138"/>
            <a:ext cx="4697476" cy="273793"/>
          </a:xfrm>
          <a:prstGeom prst="rect">
            <a:avLst/>
          </a:prstGeom>
          <a:noFill/>
        </p:spPr>
        <p:txBody>
          <a:bodyPr wrap="square" lIns="0" tIns="0" rIns="0" bIns="0">
            <a:spAutoFit/>
          </a:bodyPr>
          <a:lstStyle/>
          <a:p>
            <a:pPr>
              <a:lnSpc>
                <a:spcPts val="2250"/>
              </a:lnSpc>
              <a:spcAft>
                <a:spcPts val="0"/>
              </a:spcAft>
              <a:defRPr sz="1800" b="1">
                <a:solidFill>
                  <a:srgbClr val="14283B"/>
                </a:solidFill>
                <a:latin typeface="Arial"/>
              </a:defRPr>
            </a:pPr>
            <a:r>
              <a:rPr dirty="0"/>
              <a:t>C++20 · OpenGL 3.3 · GLFW / GLAD / GLM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rPr dirty="0"/>
              <a:t>Important features: explore, inspect, compare</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02 INTRODUCTION · Important features, screenshots and narrated project demo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3"/>
          <a:stretch>
            <a:fillRect/>
          </a:stretch>
        </p:blipFill>
        <p:spPr>
          <a:xfrm>
            <a:off x="429261" y="990600"/>
            <a:ext cx="3698239" cy="2311400"/>
          </a:xfrm>
          <a:prstGeom prst="rect">
            <a:avLst/>
          </a:prstGeom>
        </p:spPr>
      </p:pic>
      <p:sp>
        <p:nvSpPr>
          <p:cNvPr id="9" name="TextBox 8"/>
          <p:cNvSpPr txBox="1"/>
          <p:nvPr/>
        </p:nvSpPr>
        <p:spPr>
          <a:xfrm>
            <a:off x="4064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rPr dirty="0"/>
              <a:t>DATED MISSION</a:t>
            </a:r>
          </a:p>
        </p:txBody>
      </p:sp>
      <p:sp>
        <p:nvSpPr>
          <p:cNvPr id="10" name="TextBox 9"/>
          <p:cNvSpPr txBox="1"/>
          <p:nvPr/>
        </p:nvSpPr>
        <p:spPr>
          <a:xfrm>
            <a:off x="4064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rPr dirty="0"/>
              <a:t>NASA/JPL data on one date.</a:t>
            </a:r>
          </a:p>
          <a:p>
            <a:pPr>
              <a:lnSpc>
                <a:spcPts val="2125"/>
              </a:lnSpc>
              <a:spcAft>
                <a:spcPts val="0"/>
              </a:spcAft>
              <a:defRPr sz="1700" b="0">
                <a:solidFill>
                  <a:srgbClr val="14283B"/>
                </a:solidFill>
                <a:latin typeface="Arial"/>
              </a:defRPr>
            </a:pPr>
            <a:r>
              <a:rPr dirty="0"/>
              <a:t>Replay four giant-planet flybys.</a:t>
            </a:r>
          </a:p>
        </p:txBody>
      </p:sp>
      <p:pic>
        <p:nvPicPr>
          <p:cNvPr id="11" name="Picture 10" descr="image.png"/>
          <p:cNvPicPr>
            <a:picLocks noChangeAspect="1"/>
          </p:cNvPicPr>
          <p:nvPr/>
        </p:nvPicPr>
        <p:blipFill>
          <a:blip r:embed="rId4"/>
          <a:stretch>
            <a:fillRect/>
          </a:stretch>
        </p:blipFill>
        <p:spPr>
          <a:xfrm>
            <a:off x="4292600" y="990600"/>
            <a:ext cx="3698239" cy="2311400"/>
          </a:xfrm>
          <a:prstGeom prst="rect">
            <a:avLst/>
          </a:prstGeom>
        </p:spPr>
      </p:pic>
      <p:sp>
        <p:nvSpPr>
          <p:cNvPr id="12" name="TextBox 11"/>
          <p:cNvSpPr txBox="1"/>
          <p:nvPr/>
        </p:nvSpPr>
        <p:spPr>
          <a:xfrm>
            <a:off x="42926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PROCEDURAL VOYAGER</a:t>
            </a:r>
          </a:p>
        </p:txBody>
      </p:sp>
      <p:sp>
        <p:nvSpPr>
          <p:cNvPr id="13" name="TextBox 12"/>
          <p:cNvSpPr txBox="1"/>
          <p:nvPr/>
        </p:nvSpPr>
        <p:spPr>
          <a:xfrm>
            <a:off x="42926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76 authored parts; 18 targets.</a:t>
            </a:r>
          </a:p>
          <a:p>
            <a:pPr>
              <a:lnSpc>
                <a:spcPts val="2125"/>
              </a:lnSpc>
              <a:spcAft>
                <a:spcPts val="0"/>
              </a:spcAft>
              <a:defRPr sz="1700" b="0">
                <a:solidFill>
                  <a:srgbClr val="14283B"/>
                </a:solidFill>
                <a:latin typeface="Arial"/>
              </a:defRPr>
            </a:pPr>
            <a:r>
              <a:t>Inspect curved dish + NASA atlas.</a:t>
            </a:r>
          </a:p>
        </p:txBody>
      </p:sp>
      <p:pic>
        <p:nvPicPr>
          <p:cNvPr id="14" name="Picture 13" descr="image.png"/>
          <p:cNvPicPr>
            <a:picLocks noChangeAspect="1"/>
          </p:cNvPicPr>
          <p:nvPr/>
        </p:nvPicPr>
        <p:blipFill>
          <a:blip r:embed="rId5"/>
          <a:stretch>
            <a:fillRect/>
          </a:stretch>
        </p:blipFill>
        <p:spPr>
          <a:xfrm>
            <a:off x="8178800" y="990600"/>
            <a:ext cx="3698239" cy="2311400"/>
          </a:xfrm>
          <a:prstGeom prst="rect">
            <a:avLst/>
          </a:prstGeom>
        </p:spPr>
      </p:pic>
      <p:sp>
        <p:nvSpPr>
          <p:cNvPr id="15" name="TextBox 14"/>
          <p:cNvSpPr txBox="1"/>
          <p:nvPr/>
        </p:nvSpPr>
        <p:spPr>
          <a:xfrm>
            <a:off x="81788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RENDERING LAB</a:t>
            </a:r>
          </a:p>
        </p:txBody>
      </p:sp>
      <p:sp>
        <p:nvSpPr>
          <p:cNvPr id="16" name="TextBox 15"/>
          <p:cNvSpPr txBox="1"/>
          <p:nvPr/>
        </p:nvSpPr>
        <p:spPr>
          <a:xfrm>
            <a:off x="81788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Three lights; five shading modes.</a:t>
            </a:r>
          </a:p>
          <a:p>
            <a:pPr>
              <a:lnSpc>
                <a:spcPts val="2125"/>
              </a:lnSpc>
              <a:spcAft>
                <a:spcPts val="0"/>
              </a:spcAft>
              <a:defRPr sz="1700" b="0">
                <a:solidFill>
                  <a:srgbClr val="14283B"/>
                </a:solidFill>
                <a:latin typeface="Arial"/>
              </a:defRPr>
            </a:pPr>
            <a:r>
              <a:t>BVH tracing + one mirror bounce.</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8369300" y="4978400"/>
            <a:ext cx="3225800" cy="352425"/>
          </a:xfrm>
          <a:prstGeom prst="rect">
            <a:avLst/>
          </a:prstGeom>
          <a:noFill/>
        </p:spPr>
        <p:txBody>
          <a:bodyPr wrap="none" lIns="0" tIns="0" rIns="0" bIns="0">
            <a:spAutoFit/>
          </a:bodyPr>
          <a:lstStyle/>
          <a:p>
            <a:pPr>
              <a:lnSpc>
                <a:spcPts val="2375"/>
              </a:lnSpc>
              <a:spcAft>
                <a:spcPts val="0"/>
              </a:spcAft>
              <a:defRPr sz="1900" b="1">
                <a:solidFill>
                  <a:srgbClr val="FFFFFF"/>
                </a:solidFill>
                <a:latin typeface="Arial"/>
              </a:defRPr>
            </a:pPr>
            <a:r>
              <a:rPr dirty="0"/>
              <a:t>PLAY PROJECT VIDEO</a:t>
            </a:r>
          </a:p>
        </p:txBody>
      </p:sp>
      <p:sp>
        <p:nvSpPr>
          <p:cNvPr id="22" name="Showcase scope PROPOSED FEATURES background"/>
          <p:cNvSpPr/>
          <p:nvPr/>
        </p:nvSpPr>
        <p:spPr>
          <a:xfrm>
            <a:off x="4023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owcase scope PROPOSED FEATURES heading"/>
          <p:cNvSpPr txBox="1"/>
          <p:nvPr/>
        </p:nvSpPr>
        <p:spPr>
          <a:xfrm>
            <a:off x="5486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PROPOSED FEATURES</a:t>
            </a:r>
          </a:p>
        </p:txBody>
      </p:sp>
      <p:sp>
        <p:nvSpPr>
          <p:cNvPr id="24" name="Showcase scope PROPOSED FEATURES body"/>
          <p:cNvSpPr txBox="1"/>
          <p:nvPr/>
        </p:nvSpPr>
        <p:spPr>
          <a:xfrm>
            <a:off x="5486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Earth → interstellar mission</a:t>
            </a:r>
          </a:p>
          <a:p>
            <a:pPr>
              <a:lnSpc>
                <a:spcPts val="1800"/>
              </a:lnSpc>
              <a:spcAft>
                <a:spcPts val="0"/>
              </a:spcAft>
              <a:defRPr sz="1400" b="0">
                <a:solidFill>
                  <a:srgbClr val="14283B"/>
                </a:solidFill>
                <a:latin typeface="Arial"/>
              </a:defRPr>
            </a:pPr>
            <a:r>
              <a:t>Spacecraft • path • space environment</a:t>
            </a:r>
          </a:p>
          <a:p>
            <a:pPr>
              <a:lnSpc>
                <a:spcPts val="1800"/>
              </a:lnSpc>
              <a:spcAft>
                <a:spcPts val="0"/>
              </a:spcAft>
              <a:defRPr sz="1400" b="0">
                <a:solidFill>
                  <a:srgbClr val="14283B"/>
                </a:solidFill>
                <a:latin typeface="Arial"/>
              </a:defRPr>
            </a:pPr>
            <a:r>
              <a:t>TRS + hierarchy • spin • cameras</a:t>
            </a:r>
          </a:p>
          <a:p>
            <a:pPr>
              <a:lnSpc>
                <a:spcPts val="1800"/>
              </a:lnSpc>
              <a:spcAft>
                <a:spcPts val="0"/>
              </a:spcAft>
              <a:defRPr sz="1400" b="0">
                <a:solidFill>
                  <a:srgbClr val="14283B"/>
                </a:solidFill>
                <a:latin typeface="Arial"/>
              </a:defRPr>
            </a:pPr>
            <a:r>
              <a:t>Sun • Flat / Gouraud / Phong • input</a:t>
            </a:r>
          </a:p>
        </p:txBody>
      </p:sp>
      <p:sp>
        <p:nvSpPr>
          <p:cNvPr id="25" name="Showcase scope IMPLEMENTED + ADDITIONS background"/>
          <p:cNvSpPr/>
          <p:nvPr/>
        </p:nvSpPr>
        <p:spPr>
          <a:xfrm>
            <a:off x="42885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howcase scope IMPLEMENTED + ADDITIONS heading"/>
          <p:cNvSpPr txBox="1"/>
          <p:nvPr/>
        </p:nvSpPr>
        <p:spPr>
          <a:xfrm>
            <a:off x="44348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IMPLEMENTED + ADDITIONS</a:t>
            </a:r>
          </a:p>
        </p:txBody>
      </p:sp>
      <p:sp>
        <p:nvSpPr>
          <p:cNvPr id="27" name="Showcase scope IMPLEMENTED + ADDITIONS body"/>
          <p:cNvSpPr txBox="1"/>
          <p:nvPr/>
        </p:nvSpPr>
        <p:spPr>
          <a:xfrm>
            <a:off x="44348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26 bodies • 18 hardware targets</a:t>
            </a:r>
          </a:p>
          <a:p>
            <a:pPr>
              <a:lnSpc>
                <a:spcPts val="1800"/>
              </a:lnSpc>
              <a:spcAft>
                <a:spcPts val="0"/>
              </a:spcAft>
              <a:defRPr sz="1400" b="0">
                <a:solidFill>
                  <a:srgbClr val="14283B"/>
                </a:solidFill>
                <a:latin typeface="Arial"/>
              </a:defRPr>
            </a:pPr>
            <a:r>
              <a:t>Mission restart • manual flight</a:t>
            </a:r>
          </a:p>
          <a:p>
            <a:pPr>
              <a:lnSpc>
                <a:spcPts val="1800"/>
              </a:lnSpc>
              <a:spcAft>
                <a:spcPts val="0"/>
              </a:spcAft>
              <a:defRPr sz="1400" b="0">
                <a:solidFill>
                  <a:srgbClr val="14283B"/>
                </a:solidFill>
                <a:latin typeface="Arial"/>
              </a:defRPr>
            </a:pPr>
            <a:r>
              <a:t>Extra lights/shaders • surface maps</a:t>
            </a:r>
          </a:p>
          <a:p>
            <a:pPr>
              <a:lnSpc>
                <a:spcPts val="1800"/>
              </a:lnSpc>
              <a:spcAft>
                <a:spcPts val="0"/>
              </a:spcAft>
              <a:defRPr sz="1400" b="0">
                <a:solidFill>
                  <a:srgbClr val="14283B"/>
                </a:solidFill>
                <a:latin typeface="Arial"/>
              </a:defRPr>
            </a:pPr>
            <a:r>
              <a:t>Shadows • BVH ray tracing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03 GEOMETRY · One indexed sphere reused for 26 textured bodies; vertices, normals and UVs define the surface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3"/>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4"/>
          <a:stretch>
            <a:fillRect/>
          </a:stretch>
        </p:blipFill>
        <p:spPr>
          <a:xfrm>
            <a:off x="4040444" y="1199642"/>
            <a:ext cx="2891912" cy="2298700"/>
          </a:xfrm>
          <a:prstGeom prst="rect">
            <a:avLst/>
          </a:prstGeom>
        </p:spPr>
      </p:pic>
      <p:pic>
        <p:nvPicPr>
          <p:cNvPr id="10" name="Picture 9" descr="image.png"/>
          <p:cNvPicPr>
            <a:picLocks noChangeAspect="1"/>
          </p:cNvPicPr>
          <p:nvPr/>
        </p:nvPicPr>
        <p:blipFill>
          <a:blip r:embed="rId5"/>
          <a:stretch>
            <a:fillRect/>
          </a:stretch>
        </p:blipFill>
        <p:spPr>
          <a:xfrm>
            <a:off x="7065705" y="1314958"/>
            <a:ext cx="4990742" cy="2176413"/>
          </a:xfrm>
          <a:prstGeom prst="rect">
            <a:avLst/>
          </a:prstGeom>
        </p:spPr>
      </p:pic>
      <p:sp>
        <p:nvSpPr>
          <p:cNvPr id="11" name="TextBox 10"/>
          <p:cNvSpPr txBox="1"/>
          <p:nvPr/>
        </p:nvSpPr>
        <p:spPr>
          <a:xfrm>
            <a:off x="406400" y="3632200"/>
            <a:ext cx="6985000" cy="368300"/>
          </a:xfrm>
          <a:prstGeom prst="rect">
            <a:avLst/>
          </a:prstGeom>
          <a:noFill/>
        </p:spPr>
        <p:txBody>
          <a:bodyPr wrap="none" lIns="0" tIns="0" rIns="0" b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6"/>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7"/>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391400" y="4007104"/>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0150" y="4130110"/>
            <a:ext cx="37465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rPr dirty="0"/>
              <a:t>32 × 64 shared sphere</a:t>
            </a:r>
          </a:p>
          <a:p>
            <a:pPr>
              <a:lnSpc>
                <a:spcPts val="2125"/>
              </a:lnSpc>
              <a:spcAft>
                <a:spcPts val="0"/>
              </a:spcAft>
              <a:defRPr sz="1700" b="1">
                <a:solidFill>
                  <a:srgbClr val="14283B"/>
                </a:solidFill>
                <a:latin typeface="Arial"/>
              </a:defRPr>
            </a:pPr>
            <a:r>
              <a:rPr dirty="0"/>
              <a:t>2,145 vertices · 3,968 triangles</a:t>
            </a:r>
          </a:p>
          <a:p>
            <a:pPr>
              <a:lnSpc>
                <a:spcPts val="2125"/>
              </a:lnSpc>
              <a:spcAft>
                <a:spcPts val="0"/>
              </a:spcAft>
              <a:defRPr sz="1700" b="1">
                <a:solidFill>
                  <a:srgbClr val="14283B"/>
                </a:solidFill>
                <a:latin typeface="Arial"/>
              </a:defRPr>
            </a:pPr>
            <a:r>
              <a:rPr dirty="0"/>
              <a:t>11,904 indices · 26 materials/maps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04 SPACECRAFT · Authored boxes, rods and a curved dish create 76 assemblies and 18 inspection targets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3"/>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4"/>
          <a:stretch>
            <a:fillRect/>
          </a:stretch>
        </p:blipFill>
        <p:spPr>
          <a:xfrm>
            <a:off x="406400" y="3868420"/>
            <a:ext cx="2398776" cy="341376"/>
          </a:xfrm>
          <a:prstGeom prst="rect">
            <a:avLst/>
          </a:prstGeom>
        </p:spPr>
      </p:pic>
      <p:pic>
        <p:nvPicPr>
          <p:cNvPr id="13" name="Picture 12" descr="image.png"/>
          <p:cNvPicPr>
            <a:picLocks noChangeAspect="1"/>
          </p:cNvPicPr>
          <p:nvPr/>
        </p:nvPicPr>
        <p:blipFill>
          <a:blip r:embed="rId5"/>
          <a:stretch>
            <a:fillRect/>
          </a:stretch>
        </p:blipFill>
        <p:spPr>
          <a:xfrm>
            <a:off x="4292600" y="3876675"/>
            <a:ext cx="3541776" cy="316992"/>
          </a:xfrm>
          <a:prstGeom prst="rect">
            <a:avLst/>
          </a:prstGeom>
        </p:spPr>
      </p:pic>
      <p:pic>
        <p:nvPicPr>
          <p:cNvPr id="14" name="Picture 13" descr="image.png"/>
          <p:cNvPicPr>
            <a:picLocks noChangeAspect="1"/>
          </p:cNvPicPr>
          <p:nvPr/>
        </p:nvPicPr>
        <p:blipFill>
          <a:blip r:embed="rId6"/>
          <a:stretch>
            <a:fillRect/>
          </a:stretch>
        </p:blipFill>
        <p:spPr>
          <a:xfrm>
            <a:off x="859536" y="4380578"/>
            <a:ext cx="2013777" cy="1829721"/>
          </a:xfrm>
          <a:prstGeom prst="rect">
            <a:avLst/>
          </a:prstGeom>
        </p:spPr>
      </p:pic>
      <p:pic>
        <p:nvPicPr>
          <p:cNvPr id="15" name="Picture 14" descr="image.png"/>
          <p:cNvPicPr>
            <a:picLocks noChangeAspect="1"/>
          </p:cNvPicPr>
          <p:nvPr/>
        </p:nvPicPr>
        <p:blipFill>
          <a:blip r:embed="rId7"/>
          <a:stretch>
            <a:fillRect/>
          </a:stretch>
        </p:blipFill>
        <p:spPr>
          <a:xfrm>
            <a:off x="4736084" y="4380578"/>
            <a:ext cx="2013777" cy="1829721"/>
          </a:xfrm>
          <a:prstGeom prst="rect">
            <a:avLst/>
          </a:prstGeom>
        </p:spPr>
      </p:pic>
      <p:sp>
        <p:nvSpPr>
          <p:cNvPr id="16" name="TextBox 15"/>
          <p:cNvSpPr txBox="1"/>
          <p:nvPr/>
        </p:nvSpPr>
        <p:spPr>
          <a:xfrm>
            <a:off x="7778750" y="4579620"/>
            <a:ext cx="3606800" cy="1328825"/>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76 assemblies · 5,828 triangles</a:t>
            </a:r>
          </a:p>
          <a:p>
            <a:pPr>
              <a:lnSpc>
                <a:spcPts val="2125"/>
              </a:lnSpc>
              <a:spcAft>
                <a:spcPts val="0"/>
              </a:spcAft>
              <a:defRPr sz="1700" b="1">
                <a:solidFill>
                  <a:srgbClr val="14283B"/>
                </a:solidFill>
                <a:latin typeface="Arial"/>
              </a:defRPr>
            </a:pPr>
            <a:r>
              <a:rPr dirty="0"/>
              <a:t>18 inspectable hardware</a:t>
            </a:r>
          </a:p>
          <a:p>
            <a:pPr>
              <a:lnSpc>
                <a:spcPts val="2125"/>
              </a:lnSpc>
              <a:spcAft>
                <a:spcPts val="0"/>
              </a:spcAft>
              <a:defRPr sz="1700" b="1">
                <a:solidFill>
                  <a:srgbClr val="14283B"/>
                </a:solidFill>
                <a:latin typeface="Arial"/>
              </a:defRPr>
            </a:pPr>
            <a:r>
              <a:rPr dirty="0"/>
              <a:t>components</a:t>
            </a:r>
          </a:p>
          <a:p>
            <a:pPr>
              <a:lnSpc>
                <a:spcPts val="2125"/>
              </a:lnSpc>
              <a:spcAft>
                <a:spcPts val="0"/>
              </a:spcAft>
              <a:defRPr sz="1700" b="1">
                <a:solidFill>
                  <a:srgbClr val="14283B"/>
                </a:solidFill>
                <a:latin typeface="Arial"/>
              </a:defRPr>
            </a:pPr>
            <a:r>
              <a:rPr dirty="0"/>
              <a:t>Rods: rotate +Y onto B−A; rebase</a:t>
            </a:r>
          </a:p>
          <a:p>
            <a:pPr>
              <a:lnSpc>
                <a:spcPts val="2125"/>
              </a:lnSpc>
              <a:spcAft>
                <a:spcPts val="0"/>
              </a:spcAft>
              <a:defRPr sz="1700" b="1">
                <a:solidFill>
                  <a:srgbClr val="14283B"/>
                </a:solidFill>
                <a:latin typeface="Arial"/>
              </a:defRPr>
            </a:pPr>
            <a:r>
              <a:rPr dirty="0"/>
              <a:t>indices.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05 ENVIRONMENT · Four ring systems, 8,500 instanced rocks, 7,380 stars and a comet complete the scene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3"/>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4200" y="5207000"/>
            <a:ext cx="11023600" cy="33655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4"/>
          <a:stretch>
            <a:fillRect/>
          </a:stretch>
        </p:blipFill>
        <p:spPr>
          <a:xfrm>
            <a:off x="584200" y="5712333"/>
            <a:ext cx="3429000" cy="252983"/>
          </a:xfrm>
          <a:prstGeom prst="rect">
            <a:avLst/>
          </a:prstGeom>
        </p:spPr>
      </p:pic>
      <p:sp>
        <p:nvSpPr>
          <p:cNvPr id="18" name="TextBox 17"/>
          <p:cNvSpPr txBox="1"/>
          <p:nvPr/>
        </p:nvSpPr>
        <p:spPr>
          <a:xfrm>
            <a:off x="8178800" y="5730875"/>
            <a:ext cx="34925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06 INTERACTION · Four camera modes and floating origin let you inspect planets and metre-scale hardware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3"/>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4"/>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lIns="0" tIns="0" rIns="0" b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lIns="0" tIns="0" rIns="0" b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5"/>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lIns="0" tIns="0" rIns="0" b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07 MOTION · NASA/JPL dated flybys, axial spin, moon revolution and user-controlled spacecraft flight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3"/>
          <a:stretch>
            <a:fillRect/>
          </a:stretch>
        </p:blipFill>
        <p:spPr>
          <a:xfrm>
            <a:off x="137899" y="1287463"/>
            <a:ext cx="5902041" cy="1352550"/>
          </a:xfrm>
          <a:prstGeom prst="rect">
            <a:avLst/>
          </a:prstGeom>
        </p:spPr>
      </p:pic>
      <p:pic>
        <p:nvPicPr>
          <p:cNvPr id="9" name="Picture 8" descr="image.png"/>
          <p:cNvPicPr>
            <a:picLocks noChangeAspect="1"/>
          </p:cNvPicPr>
          <p:nvPr/>
        </p:nvPicPr>
        <p:blipFill>
          <a:blip r:embed="rId4"/>
          <a:stretch>
            <a:fillRect/>
          </a:stretch>
        </p:blipFill>
        <p:spPr>
          <a:xfrm>
            <a:off x="6039940" y="1302384"/>
            <a:ext cx="5996255" cy="1374141"/>
          </a:xfrm>
          <a:prstGeom prst="rect">
            <a:avLst/>
          </a:prstGeom>
        </p:spPr>
      </p:pic>
      <p:sp>
        <p:nvSpPr>
          <p:cNvPr id="10" name="TextBox 9"/>
          <p:cNvSpPr txBox="1"/>
          <p:nvPr/>
        </p:nvSpPr>
        <p:spPr>
          <a:xfrm>
            <a:off x="4064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5"/>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6"/>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7"/>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8"/>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9"/>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08 LIGHTING · Sun, moving camera spotlight and directional fill; compare their responses in the same view</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3"/>
          <a:stretch>
            <a:fillRect/>
          </a:stretch>
        </p:blipFill>
        <p:spPr>
          <a:xfrm>
            <a:off x="227450" y="1049073"/>
            <a:ext cx="11558149" cy="2648743"/>
          </a:xfrm>
          <a:prstGeom prst="rect">
            <a:avLst/>
          </a:prstGeom>
        </p:spPr>
      </p:pic>
      <p:sp>
        <p:nvSpPr>
          <p:cNvPr id="9" name="TextBox 8"/>
          <p:cNvSpPr txBox="1"/>
          <p:nvPr/>
        </p:nvSpPr>
        <p:spPr>
          <a:xfrm>
            <a:off x="4064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4"/>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5"/>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6"/>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7"/>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8"/>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
        <p:nvSpPr>
          <p:cNvPr id="18" name="Showcase lighting equation background"/>
          <p:cNvSpPr/>
          <p:nvPr/>
        </p:nvSpPr>
        <p:spPr>
          <a:xfrm>
            <a:off x="402336" y="5330952"/>
            <a:ext cx="7114032" cy="61264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howcase lighting equation terms"/>
          <p:cNvSpPr txBox="1"/>
          <p:nvPr/>
        </p:nvSpPr>
        <p:spPr>
          <a:xfrm>
            <a:off x="539496" y="5367528"/>
            <a:ext cx="6876288" cy="539496"/>
          </a:xfrm>
          <a:prstGeom prst="rect">
            <a:avLst/>
          </a:prstGeom>
          <a:noFill/>
        </p:spPr>
        <p:txBody>
          <a:bodyPr wrap="none" tIns="0" bIns="0" lIns="0" rIns="0">
            <a:spAutoFit/>
          </a:bodyPr>
          <a:lstStyle/>
          <a:p>
            <a:pPr>
              <a:lnSpc>
                <a:spcPts val="1600"/>
              </a:lnSpc>
              <a:spcAft>
                <a:spcPts val="0"/>
              </a:spcAft>
              <a:defRPr sz="1300" b="1">
                <a:solidFill>
                  <a:srgbClr val="14283B"/>
                </a:solidFill>
                <a:latin typeface="Arial"/>
              </a:defRPr>
            </a:pPr>
            <a:r>
              <a:t>AMBIENT  kₐ = 0.07   •   DIFFUSE  D = max(n·l, 0)</a:t>
            </a:r>
          </a:p>
          <a:p>
            <a:pPr>
              <a:lnSpc>
                <a:spcPts val="1600"/>
              </a:lnSpc>
              <a:spcAft>
                <a:spcPts val="0"/>
              </a:spcAft>
              <a:defRPr sz="1300" b="1">
                <a:solidFill>
                  <a:srgbClr val="14283B"/>
                </a:solidFill>
                <a:latin typeface="Arial"/>
              </a:defRPr>
            </a:pPr>
            <a:r>
              <a:t>SPECULAR  Sₚ = kₛ max(r·v, 0)ᵖ   •   I = a(kₐ+VₛDₛ+Dₒ)+VₛSₛ+Sₒ</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09 SHADING · Compare Flat, Gouraud, Phong, Blinn–Phong and Toon on the same planets and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3"/>
          <a:stretch>
            <a:fillRect/>
          </a:stretch>
        </p:blipFill>
        <p:spPr>
          <a:xfrm>
            <a:off x="406399" y="973651"/>
            <a:ext cx="11379200" cy="1887913"/>
          </a:xfrm>
          <a:prstGeom prst="rect">
            <a:avLst/>
          </a:prstGeom>
        </p:spPr>
      </p:pic>
      <p:pic>
        <p:nvPicPr>
          <p:cNvPr id="9" name="Picture 8" descr="image.png"/>
          <p:cNvPicPr>
            <a:picLocks noChangeAspect="1"/>
          </p:cNvPicPr>
          <p:nvPr/>
        </p:nvPicPr>
        <p:blipFill>
          <a:blip r:embed="rId4"/>
          <a:stretch>
            <a:fillRect/>
          </a:stretch>
        </p:blipFill>
        <p:spPr>
          <a:xfrm>
            <a:off x="706258" y="2891536"/>
            <a:ext cx="10779481" cy="1788414"/>
          </a:xfrm>
          <a:prstGeom prst="rect">
            <a:avLst/>
          </a:prstGeom>
        </p:spPr>
      </p:pic>
      <p:sp>
        <p:nvSpPr>
          <p:cNvPr id="10" name="TextBox 9"/>
          <p:cNvSpPr txBox="1"/>
          <p:nvPr/>
        </p:nvSpPr>
        <p:spPr>
          <a:xfrm>
            <a:off x="10739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FLAT</a:t>
            </a:r>
          </a:p>
        </p:txBody>
      </p:sp>
      <p:sp>
        <p:nvSpPr>
          <p:cNvPr id="11" name="TextBox 10"/>
          <p:cNvSpPr txBox="1"/>
          <p:nvPr/>
        </p:nvSpPr>
        <p:spPr>
          <a:xfrm>
            <a:off x="10739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33726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GOURAUD</a:t>
            </a:r>
          </a:p>
        </p:txBody>
      </p:sp>
      <p:sp>
        <p:nvSpPr>
          <p:cNvPr id="13" name="TextBox 12"/>
          <p:cNvSpPr txBox="1"/>
          <p:nvPr/>
        </p:nvSpPr>
        <p:spPr>
          <a:xfrm>
            <a:off x="33726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6713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6713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9700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9700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102687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102687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5"/>
          <a:stretch>
            <a:fillRect/>
          </a:stretch>
        </p:blipFill>
        <p:spPr>
          <a:xfrm>
            <a:off x="891032" y="5549900"/>
            <a:ext cx="2258568" cy="252983"/>
          </a:xfrm>
          <a:prstGeom prst="rect">
            <a:avLst/>
          </a:prstGeom>
        </p:spPr>
      </p:pic>
      <p:pic>
        <p:nvPicPr>
          <p:cNvPr id="21" name="Picture 20" descr="image.png"/>
          <p:cNvPicPr>
            <a:picLocks noChangeAspect="1"/>
          </p:cNvPicPr>
          <p:nvPr/>
        </p:nvPicPr>
        <p:blipFill>
          <a:blip r:embed="rId6"/>
          <a:stretch>
            <a:fillRect/>
          </a:stretch>
        </p:blipFill>
        <p:spPr>
          <a:xfrm>
            <a:off x="7609332" y="5513323"/>
            <a:ext cx="2410968" cy="289560"/>
          </a:xfrm>
          <a:prstGeom prst="rect">
            <a:avLst/>
          </a:prstGeom>
        </p:spPr>
      </p:pic>
      <p:sp>
        <p:nvSpPr>
          <p:cNvPr id="22" name="TextBox 21"/>
          <p:cNvSpPr txBox="1"/>
          <p:nvPr/>
        </p:nvSpPr>
        <p:spPr>
          <a:xfrm>
            <a:off x="497840" y="6070600"/>
            <a:ext cx="10484104" cy="191847"/>
          </a:xfrm>
          <a:prstGeom prst="rect">
            <a:avLst/>
          </a:prstGeom>
          <a:noFill/>
        </p:spPr>
        <p:txBody>
          <a:bodyPr wrap="square" lIns="0" tIns="0" rIns="0" bIns="0">
            <a:spAutoFit/>
          </a:bodyPr>
          <a:lstStyle/>
          <a:p>
            <a:pPr>
              <a:lnSpc>
                <a:spcPts val="1625"/>
              </a:lnSpc>
              <a:spcAft>
                <a:spcPts val="0"/>
              </a:spcAft>
              <a:defRPr sz="1300" b="0">
                <a:solidFill>
                  <a:srgbClr val="14283B"/>
                </a:solidFill>
                <a:latin typeface="Arial"/>
              </a:defRPr>
            </a:pPr>
            <a:r>
              <a:rPr dirty="0"/>
              <a:t>Toon: 1 / 0.62 / 0.30 / 0.06 bands; rim at </a:t>
            </a:r>
            <a:r>
              <a:rPr dirty="0" err="1"/>
              <a:t>n·v</a:t>
            </a:r>
            <a:r>
              <a:rPr dirty="0"/>
              <a:t> &lt; 0.22. Glow/unlit are separate materials.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10 SHADOWS · Analytic rays show eclipses and ring shadows; a depth map handles spacecraft self-shadow</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3"/>
          <a:stretch>
            <a:fillRect/>
          </a:stretch>
        </p:blipFill>
        <p:spPr>
          <a:xfrm>
            <a:off x="249381" y="1143000"/>
            <a:ext cx="11665527" cy="2673350"/>
          </a:xfrm>
          <a:prstGeom prst="rect">
            <a:avLst/>
          </a:prstGeom>
        </p:spPr>
      </p:pic>
      <p:pic>
        <p:nvPicPr>
          <p:cNvPr id="9" name="Picture 8" descr="image.png"/>
          <p:cNvPicPr>
            <a:picLocks noChangeAspect="1"/>
          </p:cNvPicPr>
          <p:nvPr/>
        </p:nvPicPr>
        <p:blipFill>
          <a:blip r:embed="rId4"/>
          <a:stretch>
            <a:fillRect/>
          </a:stretch>
        </p:blipFill>
        <p:spPr>
          <a:xfrm>
            <a:off x="406400" y="395605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4200" y="5016500"/>
            <a:ext cx="51689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11 BONUS · Hybrid tracing uses analytic planets/rings, a spacecraft triangle BVH and one optional reflection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3"/>
          <a:stretch>
            <a:fillRect/>
          </a:stretch>
        </p:blipFill>
        <p:spPr>
          <a:xfrm>
            <a:off x="1371599" y="1029156"/>
            <a:ext cx="9448802" cy="2165350"/>
          </a:xfrm>
          <a:prstGeom prst="rect">
            <a:avLst/>
          </a:prstGeom>
        </p:spPr>
      </p:pic>
      <p:pic>
        <p:nvPicPr>
          <p:cNvPr id="9" name="Picture 8" descr="image.png"/>
          <p:cNvPicPr>
            <a:picLocks noChangeAspect="1"/>
          </p:cNvPicPr>
          <p:nvPr/>
        </p:nvPicPr>
        <p:blipFill>
          <a:blip r:embed="rId4"/>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5"/>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6"/>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7"/>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12 SURFACES · NASA atlas and derived normal/specular maps add detail; F8 toggles maps for comparison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3"/>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4"/>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5"/>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6"/>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7"/>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lIns="0" tIns="0" rIns="0" b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lIns="0" tIns="0" rIns="0" b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3"/>
          <a:stretch>
            <a:fillRect/>
          </a:stretch>
        </p:blipFill>
        <p:spPr>
          <a:xfrm>
            <a:off x="7108191" y="1196975"/>
            <a:ext cx="4842509" cy="3026567"/>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900" y="4546600"/>
            <a:ext cx="6286500" cy="1320800"/>
          </a:xfrm>
          <a:prstGeom prst="rect">
            <a:avLst/>
          </a:prstGeom>
          <a:noFill/>
        </p:spPr>
        <p:txBody>
          <a:bodyPr wrap="none" lIns="0" tIns="0" rIns="0" b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lIns="0" tIns="0" rIns="0" b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TotalTime>
  <Words>6744</Words>
  <Application>Microsoft Office PowerPoint</Application>
  <PresentationFormat>Widescreen</PresentationFormat>
  <Paragraphs>320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Sarwad Hasan</cp:lastModifiedBy>
  <cp:revision>8</cp:revision>
  <dcterms:created xsi:type="dcterms:W3CDTF">2013-01-27T09:14:16Z</dcterms:created>
  <dcterms:modified xsi:type="dcterms:W3CDTF">2026-10-05T17:06:08Z</dcterms:modified>
  <cp:category/>
</cp:coreProperties>
</file>